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CRITICAL NOW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INTELLIGENCE PLATFORM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5204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3FE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Outage Prediction &amp; Grid Equipment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3FE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Advisor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526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asset sensors, weather forecasts, and incident history into one ranked,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maintenance and crew pre-positioning plan — before the blackout.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1005840"/>
            <a:ext cx="2926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00C2D1">
                    <a:alpha val="32000"/>
                  </a:srgbClr>
                </a:solidFill>
              </a:rPr>
              <a:t>⚡</a:t>
            </a:r>
            <a:endParaRPr lang="en-US" sz="22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6080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 ·  Weather forecasts  ·  Historical incidents  →  Ranked action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Reactive Maintenance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still schedule maintenance by the calendar — even though their own sensors already reveal which equipment is about to fail.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337560" cy="3246120"/>
          </a:xfrm>
          <a:prstGeom prst="roundRect">
            <a:avLst>
              <a:gd name="adj" fmla="val 2817"/>
            </a:avLst>
          </a:prstGeom>
          <a:solidFill>
            <a:srgbClr val="16304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$1M+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hour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major substation or transformer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outage, in direct utility cost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2240280"/>
            <a:ext cx="3337560" cy="3246120"/>
          </a:xfrm>
          <a:prstGeom prst="roundRect">
            <a:avLst>
              <a:gd name="adj" fmla="val 2817"/>
            </a:avLst>
          </a:prstGeom>
          <a:solidFill>
            <a:srgbClr val="16304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80560" y="27432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affected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40233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single large-scale grid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failure event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2240280"/>
            <a:ext cx="3337560" cy="3246120"/>
          </a:xfrm>
          <a:prstGeom prst="roundRect">
            <a:avLst>
              <a:gd name="adj" fmla="val 2817"/>
            </a:avLst>
          </a:prstGeom>
          <a:solidFill>
            <a:srgbClr val="16304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138160" y="27432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E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advance warning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0233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present in temperature, vibration,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partial-discharge &amp; oil-quality sensor trends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— GRID FAILURE ADVISOR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 Streams. Never Combined In Time.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084832"/>
            <a:ext cx="822960" cy="82296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2084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📡</a:t>
            </a:r>
            <a:endParaRPr lang="en-US" sz="234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99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Health Sensors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vibration,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discharge, oil quality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75688" y="3840480"/>
            <a:ext cx="237744" cy="365760"/>
          </a:xfrm>
          <a:prstGeom prst="downArrow">
            <a:avLst/>
          </a:prstGeom>
          <a:solidFill>
            <a:srgbClr val="3C5A7A"/>
          </a:solidFill>
          <a:ln/>
        </p:spPr>
      </p:sp>
      <p:sp>
        <p:nvSpPr>
          <p:cNvPr id="10" name="Shape 8"/>
          <p:cNvSpPr/>
          <p:nvPr/>
        </p:nvSpPr>
        <p:spPr>
          <a:xfrm>
            <a:off x="4069080" y="182880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084832"/>
            <a:ext cx="822960" cy="82296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2084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⛈️</a:t>
            </a:r>
            <a:endParaRPr lang="en-US" sz="234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999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Storms, heat waves, wind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lightning risk windows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21808" y="3840480"/>
            <a:ext cx="237744" cy="365760"/>
          </a:xfrm>
          <a:prstGeom prst="downArrow">
            <a:avLst/>
          </a:prstGeom>
          <a:solidFill>
            <a:srgbClr val="3C5A7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182880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084832"/>
            <a:ext cx="822960" cy="82296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2084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🗂️</a:t>
            </a:r>
            <a:endParaRPr lang="en-US" sz="234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999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Incidents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failures, causes,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&amp; outage records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67928" y="3840480"/>
            <a:ext cx="237744" cy="365760"/>
          </a:xfrm>
          <a:prstGeom prst="downArrow">
            <a:avLst/>
          </a:prstGeom>
          <a:solidFill>
            <a:srgbClr val="3C5A7A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4480560"/>
            <a:ext cx="9235440" cy="1051560"/>
          </a:xfrm>
          <a:prstGeom prst="roundRect">
            <a:avLst>
              <a:gd name="adj" fmla="val 8696"/>
            </a:avLst>
          </a:prstGeom>
          <a:solidFill>
            <a:srgbClr val="2A1E22"/>
          </a:solidFill>
          <a:ln w="15875">
            <a:solidFill>
              <a:srgbClr val="FF6B5E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822960" y="448056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Never fused, never scored, never acted on in time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95604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stream is monitored in a separate system — by the time a human connects them, the failure window has already closed.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Bob's job: close this gap.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— GRID FAILURE ADVISOR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Bob: One Fused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2606040"/>
            <a:ext cx="731520" cy="73152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87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🔌</a:t>
            </a:r>
            <a:endParaRPr lang="en-US" sz="208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74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· Weather ·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incidents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35224" y="3392424"/>
            <a:ext cx="347472" cy="256032"/>
          </a:xfrm>
          <a:prstGeom prst="rightArrow">
            <a:avLst/>
          </a:prstGeom>
          <a:solidFill>
            <a:srgbClr val="00C2D1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233172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37660" y="2606040"/>
            <a:ext cx="731520" cy="73152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3766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🧠</a:t>
            </a:r>
            <a:endParaRPr lang="en-US" sz="208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474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Engine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886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&amp; correlates all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 real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24144" y="3392424"/>
            <a:ext cx="347472" cy="256032"/>
          </a:xfrm>
          <a:prstGeom prst="rightArrow">
            <a:avLst/>
          </a:prstGeom>
          <a:solidFill>
            <a:srgbClr val="00C2D1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233172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26580" y="2606040"/>
            <a:ext cx="731520" cy="73152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2658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📊</a:t>
            </a:r>
            <a:endParaRPr lang="en-US" sz="208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474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Ranking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886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assets by failure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× grid impact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13064" y="3392424"/>
            <a:ext cx="347472" cy="256032"/>
          </a:xfrm>
          <a:prstGeom prst="rightArrow">
            <a:avLst/>
          </a:prstGeom>
          <a:solidFill>
            <a:srgbClr val="00C2D1"/>
          </a:solidFill>
          <a:ln/>
        </p:spPr>
      </p:sp>
      <p:sp>
        <p:nvSpPr>
          <p:cNvPr id="22" name="Shape 20"/>
          <p:cNvSpPr/>
          <p:nvPr/>
        </p:nvSpPr>
        <p:spPr>
          <a:xfrm>
            <a:off x="8915400" y="233172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13424A"/>
          </a:solidFill>
          <a:ln w="19050">
            <a:solidFill>
              <a:srgbClr val="00C2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15500" y="2606040"/>
            <a:ext cx="731520" cy="731520"/>
          </a:xfrm>
          <a:prstGeom prst="ellipse">
            <a:avLst/>
          </a:prstGeom>
          <a:solidFill>
            <a:srgbClr val="0E556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1550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🧭</a:t>
            </a:r>
            <a:endParaRPr lang="en-US" sz="208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3474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3886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+ crew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pre-positioning, prioritised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runs continuously — Bob re-scores assets as new sensor readings and forecasts arrive.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— GRID FAILURE ADVISOR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Signal to Action in 5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810512" cy="2834640"/>
          </a:xfrm>
          <a:prstGeom prst="roundRect">
            <a:avLst>
              <a:gd name="adj" fmla="val 5051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1892808"/>
            <a:ext cx="512064" cy="512064"/>
          </a:xfrm>
          <a:prstGeom prst="ellipse">
            <a:avLst/>
          </a:prstGeom>
          <a:solidFill>
            <a:srgbClr val="FFB627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97864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328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📥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461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657600"/>
            <a:ext cx="1591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sensor telemetry, weather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feeds &amp; incident logs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3465576"/>
            <a:ext cx="182880" cy="201168"/>
          </a:xfrm>
          <a:prstGeom prst="rightArrow">
            <a:avLst/>
          </a:prstGeom>
          <a:solidFill>
            <a:srgbClr val="00C2D1"/>
          </a:solidFill>
          <a:ln/>
        </p:spPr>
      </p:sp>
      <p:sp>
        <p:nvSpPr>
          <p:cNvPr id="11" name="Shape 9"/>
          <p:cNvSpPr/>
          <p:nvPr/>
        </p:nvSpPr>
        <p:spPr>
          <a:xfrm>
            <a:off x="2578608" y="2148840"/>
            <a:ext cx="1810512" cy="2834640"/>
          </a:xfrm>
          <a:prstGeom prst="roundRect">
            <a:avLst>
              <a:gd name="adj" fmla="val 5051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892808"/>
            <a:ext cx="512064" cy="512064"/>
          </a:xfrm>
          <a:prstGeom prst="ellipse">
            <a:avLst/>
          </a:prstGeom>
          <a:solidFill>
            <a:srgbClr val="FFB627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27832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25328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2670048" y="32461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688336" y="3657600"/>
            <a:ext cx="1591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Time-align &amp; correlate all sources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asset and per region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07408" y="3465576"/>
            <a:ext cx="182880" cy="201168"/>
          </a:xfrm>
          <a:prstGeom prst="rightArrow">
            <a:avLst/>
          </a:prstGeom>
          <a:solidFill>
            <a:srgbClr val="00C2D1"/>
          </a:solidFill>
          <a:ln/>
        </p:spPr>
      </p:sp>
      <p:sp>
        <p:nvSpPr>
          <p:cNvPr id="18" name="Shape 16"/>
          <p:cNvSpPr/>
          <p:nvPr/>
        </p:nvSpPr>
        <p:spPr>
          <a:xfrm>
            <a:off x="4608576" y="2148840"/>
            <a:ext cx="1810512" cy="2834640"/>
          </a:xfrm>
          <a:prstGeom prst="roundRect">
            <a:avLst>
              <a:gd name="adj" fmla="val 5051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1892808"/>
            <a:ext cx="512064" cy="512064"/>
          </a:xfrm>
          <a:prstGeom prst="ellipse">
            <a:avLst/>
          </a:prstGeom>
          <a:solidFill>
            <a:srgbClr val="FFB627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608576" y="25328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🔮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4700016" y="32461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18304" y="3657600"/>
            <a:ext cx="1591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failure signatures &amp;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weather-compounded risk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37376" y="3465576"/>
            <a:ext cx="182880" cy="201168"/>
          </a:xfrm>
          <a:prstGeom prst="rightArrow">
            <a:avLst/>
          </a:prstGeom>
          <a:solidFill>
            <a:srgbClr val="00C2D1"/>
          </a:solidFill>
          <a:ln/>
        </p:spPr>
      </p:sp>
      <p:sp>
        <p:nvSpPr>
          <p:cNvPr id="25" name="Shape 23"/>
          <p:cNvSpPr/>
          <p:nvPr/>
        </p:nvSpPr>
        <p:spPr>
          <a:xfrm>
            <a:off x="6638544" y="2148840"/>
            <a:ext cx="1810512" cy="2834640"/>
          </a:xfrm>
          <a:prstGeom prst="roundRect">
            <a:avLst>
              <a:gd name="adj" fmla="val 5051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87768" y="1892808"/>
            <a:ext cx="512064" cy="512064"/>
          </a:xfrm>
          <a:prstGeom prst="ellipse">
            <a:avLst/>
          </a:prstGeom>
          <a:solidFill>
            <a:srgbClr val="FFB627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8776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638544" y="25328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6729984" y="32461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48272" y="3657600"/>
            <a:ext cx="1591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by grid impact severity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population served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67344" y="3465576"/>
            <a:ext cx="182880" cy="201168"/>
          </a:xfrm>
          <a:prstGeom prst="rightArrow">
            <a:avLst/>
          </a:prstGeom>
          <a:solidFill>
            <a:srgbClr val="00C2D1"/>
          </a:solidFill>
          <a:ln/>
        </p:spPr>
      </p:sp>
      <p:sp>
        <p:nvSpPr>
          <p:cNvPr id="32" name="Shape 30"/>
          <p:cNvSpPr/>
          <p:nvPr/>
        </p:nvSpPr>
        <p:spPr>
          <a:xfrm>
            <a:off x="8668512" y="2148840"/>
            <a:ext cx="1810512" cy="2834640"/>
          </a:xfrm>
          <a:prstGeom prst="roundRect">
            <a:avLst>
              <a:gd name="adj" fmla="val 5051"/>
            </a:avLst>
          </a:prstGeom>
          <a:solidFill>
            <a:srgbClr val="1630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17736" y="1892808"/>
            <a:ext cx="512064" cy="512064"/>
          </a:xfrm>
          <a:prstGeom prst="ellipse">
            <a:avLst/>
          </a:prstGeom>
          <a:solidFill>
            <a:srgbClr val="FFB627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17736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668512" y="25328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36" name="Text 34"/>
          <p:cNvSpPr txBox="1"/>
          <p:nvPr/>
        </p:nvSpPr>
        <p:spPr>
          <a:xfrm>
            <a:off x="8759952" y="32461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3657600"/>
            <a:ext cx="1591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maintenance &amp; crew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pre-positioning schedule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loop: outcomes from executed maintenance feed back in, sharpening future predictions.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— GRID FAILURE ADVISOR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Assets by Grid Impact Severity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  ×  Impact Severity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926080" cy="1874520"/>
          </a:xfrm>
          <a:prstGeom prst="rect">
            <a:avLst/>
          </a:prstGeom>
          <a:solidFill>
            <a:srgbClr val="1732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2057400"/>
            <a:ext cx="2926080" cy="1874520"/>
          </a:xfrm>
          <a:prstGeom prst="rect">
            <a:avLst/>
          </a:prstGeom>
          <a:solidFill>
            <a:srgbClr val="3A2233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931920"/>
            <a:ext cx="2926080" cy="1874520"/>
          </a:xfrm>
          <a:prstGeom prst="rect">
            <a:avLst/>
          </a:prstGeom>
          <a:solidFill>
            <a:srgbClr val="17324F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3931920"/>
            <a:ext cx="2926080" cy="1874520"/>
          </a:xfrm>
          <a:prstGeom prst="rect">
            <a:avLst/>
          </a:prstGeom>
          <a:solidFill>
            <a:srgbClr val="173A32"/>
          </a:solidFill>
          <a:ln w="12700">
            <a:solidFill>
              <a:srgbClr val="2442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Act now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Watch closely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Schedule soon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B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— Calendar cycle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52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Severity →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645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 failure probability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7411" y="3257093"/>
            <a:ext cx="146304" cy="146304"/>
          </a:xfrm>
          <a:prstGeom prst="ellipse">
            <a:avLst/>
          </a:prstGeom>
          <a:solidFill>
            <a:srgbClr val="FF6B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4451" y="340339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12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8109" y="3631997"/>
            <a:ext cx="146304" cy="146304"/>
          </a:xfrm>
          <a:prstGeom prst="ellipse">
            <a:avLst/>
          </a:prstGeom>
          <a:solidFill>
            <a:srgbClr val="FF6B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05149" y="377830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T-04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04288" y="4981651"/>
            <a:ext cx="146304" cy="146304"/>
          </a:xfrm>
          <a:prstGeom prst="ellipse">
            <a:avLst/>
          </a:prstGeom>
          <a:solidFill>
            <a:srgbClr val="6FBF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76979" y="4869180"/>
            <a:ext cx="146304" cy="146304"/>
          </a:xfrm>
          <a:prstGeom prst="ellipse">
            <a:avLst/>
          </a:prstGeom>
          <a:solidFill>
            <a:srgbClr val="3FE0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36115" y="3557016"/>
            <a:ext cx="146304" cy="146304"/>
          </a:xfrm>
          <a:prstGeom prst="ellipse">
            <a:avLst/>
          </a:prstGeom>
          <a:solidFill>
            <a:srgbClr val="FFB62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Feeds the Score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210312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6304F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3720" y="2231136"/>
            <a:ext cx="457200" cy="45720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372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🏙️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10312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customers served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2962656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6304F"/>
          </a:solidFill>
          <a:ln/>
        </p:spPr>
      </p:sp>
      <p:sp>
        <p:nvSpPr>
          <p:cNvPr id="28" name="Shape 26"/>
          <p:cNvSpPr/>
          <p:nvPr/>
        </p:nvSpPr>
        <p:spPr>
          <a:xfrm>
            <a:off x="6903720" y="3090672"/>
            <a:ext cx="457200" cy="45720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037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🔁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296265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redundancy / single point of failure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3822192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6304F"/>
          </a:solidFill>
          <a:ln/>
        </p:spPr>
      </p:sp>
      <p:sp>
        <p:nvSpPr>
          <p:cNvPr id="32" name="Shape 30"/>
          <p:cNvSpPr/>
          <p:nvPr/>
        </p:nvSpPr>
        <p:spPr>
          <a:xfrm>
            <a:off x="6903720" y="3950208"/>
            <a:ext cx="457200" cy="45720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0372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🌡️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38221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degradation trend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4681728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6304F"/>
          </a:solidFill>
          <a:ln/>
        </p:spPr>
      </p:sp>
      <p:sp>
        <p:nvSpPr>
          <p:cNvPr id="36" name="Shape 34"/>
          <p:cNvSpPr/>
          <p:nvPr/>
        </p:nvSpPr>
        <p:spPr>
          <a:xfrm>
            <a:off x="6903720" y="4809744"/>
            <a:ext cx="457200" cy="45720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90372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⛈️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468172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weather exposure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66560" y="5541264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6304F"/>
          </a:solidFill>
          <a:ln/>
        </p:spPr>
      </p:sp>
      <p:sp>
        <p:nvSpPr>
          <p:cNvPr id="40" name="Shape 38"/>
          <p:cNvSpPr/>
          <p:nvPr/>
        </p:nvSpPr>
        <p:spPr>
          <a:xfrm>
            <a:off x="6903720" y="5669280"/>
            <a:ext cx="457200" cy="45720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90372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🏥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498080" y="554126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 of downstream load (hospitals, etc.)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— GRID FAILURE ADVISOR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Prioritised Maintenance &amp; Crew Plan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Asset Worklist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240280"/>
            <a:ext cx="411480" cy="41148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12 — Transformer T-04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dispatched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74920" y="224028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FF6B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74920" y="2240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6304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063240"/>
            <a:ext cx="411480" cy="41148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999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 Line 7B, Sector NW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scheduled T-24h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306324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FF6B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74920" y="3063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6304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886200"/>
            <a:ext cx="411480" cy="41148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6 — Breaker B-11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queued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388620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FFB6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74920" y="3886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6304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709160"/>
            <a:ext cx="411480" cy="41148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4645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T-19, Riverside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next cycle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470916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3FE0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074920" y="4709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Pre-Positioning Timeline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03720" y="2194560"/>
            <a:ext cx="0" cy="3566160"/>
          </a:xfrm>
          <a:prstGeom prst="line">
            <a:avLst/>
          </a:prstGeom>
          <a:noFill/>
          <a:ln w="25400">
            <a:solidFill>
              <a:srgbClr val="3C5A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21424" y="2148840"/>
            <a:ext cx="164592" cy="164592"/>
          </a:xfrm>
          <a:prstGeom prst="ellipse">
            <a:avLst/>
          </a:prstGeom>
          <a:solidFill>
            <a:srgbClr val="3FE0EE"/>
          </a:solidFill>
          <a:ln w="19050">
            <a:solidFill>
              <a:srgbClr val="0B1E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0" y="20391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E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T-72h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20391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forecast confirmed; watch list locked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21424" y="3044952"/>
            <a:ext cx="164592" cy="164592"/>
          </a:xfrm>
          <a:prstGeom prst="ellipse">
            <a:avLst/>
          </a:prstGeom>
          <a:solidFill>
            <a:srgbClr val="3FE0EE"/>
          </a:solidFill>
          <a:ln w="19050">
            <a:solidFill>
              <a:srgbClr val="0B1E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32320" y="29352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E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T-48h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138160" y="29352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assets re-scored; crews &amp; parts staged regionally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21424" y="3941064"/>
            <a:ext cx="164592" cy="164592"/>
          </a:xfrm>
          <a:prstGeom prst="ellipse">
            <a:avLst/>
          </a:prstGeom>
          <a:solidFill>
            <a:srgbClr val="FFB627"/>
          </a:solidFill>
          <a:ln w="19050">
            <a:solidFill>
              <a:srgbClr val="0B1E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0" y="38313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T-24h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38313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pre-positioned near top-ranked substations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21424" y="4837176"/>
            <a:ext cx="164592" cy="164592"/>
          </a:xfrm>
          <a:prstGeom prst="ellipse">
            <a:avLst/>
          </a:prstGeom>
          <a:solidFill>
            <a:srgbClr val="FF6B5E"/>
          </a:solidFill>
          <a:ln w="19050">
            <a:solidFill>
              <a:srgbClr val="0B1E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132320" y="4727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T-0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138160" y="47274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monitoring; crews dispatch on real-time trigger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— GRID FAILURE ADVISOR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to Predictive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3291840"/>
          </a:xfrm>
          <a:prstGeom prst="roundRect">
            <a:avLst>
              <a:gd name="adj" fmla="val 2778"/>
            </a:avLst>
          </a:prstGeom>
          <a:solidFill>
            <a:srgbClr val="16304F"/>
          </a:solidFill>
          <a:ln w="15875">
            <a:solidFill>
              <a:srgbClr val="FF6B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Bob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Calendar-based maintenance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Crews dispatched after failure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Weather &amp; sensor data siloed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891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Blackouts discovered by customers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5074920" cy="3291840"/>
          </a:xfrm>
          <a:prstGeom prst="roundRect">
            <a:avLst>
              <a:gd name="adj" fmla="val 2778"/>
            </a:avLst>
          </a:prstGeom>
          <a:solidFill>
            <a:srgbClr val="16304F"/>
          </a:solidFill>
          <a:ln w="15875">
            <a:solidFill>
              <a:srgbClr val="3FE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E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Bob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060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Sensor-driven, risk-ranked schedule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2004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Crews pre-positioned before failure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7947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Sensors + weather + history fused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3891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Outages predicted weeks in advance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Bob. Rank the risk. Move the crew. Prevent the blackout.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09160" y="59893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9160" y="5989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· RANK · ACT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Outage Prediction &amp; Grid Equipment Failure Advisor</dc:title>
  <dc:subject>PptxGenJS Presentation</dc:subject>
  <dc:creator>Bob</dc:creator>
  <cp:lastModifiedBy>Bob</cp:lastModifiedBy>
  <cp:revision>1</cp:revision>
  <dcterms:created xsi:type="dcterms:W3CDTF">2026-09-14T09:26:45Z</dcterms:created>
  <dcterms:modified xsi:type="dcterms:W3CDTF">2026-09-14T09:26:45Z</dcterms:modified>
</cp:coreProperties>
</file>